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HỆ THỐNG QUẢN LÝ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SỨC KHỎE CỘNG ĐỒNG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 Health Management System — CHMS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Môn học: Phân tích và Thiết kế Hệ thống Thông tin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3580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GIỚI THIỆU NHÓM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607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ĐỀ TÀI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35024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Hệ thống Quản lý Sức khỏe Cộng đồng (CHMS)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85039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PHƯƠNG PHÁP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23113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hướng đối tượng + UML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798064"/>
            <a:ext cx="85039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852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PHẠM VI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272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Trạm y tế phường/xã và Trung tâm y tế quận/huyện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694176"/>
            <a:ext cx="85039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694176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CÔNG CỤ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 • Activity • Class • Sequence Diagram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572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3716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133856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MỞ ĐẦU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170432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Bài toán, lý do chọn đề tài, phương pháp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85039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13716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92938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1965960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Xác định yêu cầu hệ thống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85039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596896"/>
            <a:ext cx="13716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724912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2761488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và phát triển hệ thống (UML)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392424"/>
            <a:ext cx="85039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392424"/>
            <a:ext cx="13716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3520440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3557016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Thiết kế giao diện người dùng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4187952"/>
            <a:ext cx="85039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187952"/>
            <a:ext cx="13716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4315968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4352544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luận và hướng phát triển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MỞ ĐẦU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2286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4183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Bài toán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CHMS — Hệ thống Quản lý Sức khỏe Cộng đồng hỗ trợ trạm y tế phường/xã quản lý hồ sơ, khám bệnh, tiêm chủng, dịch bệnh.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Lý do chọn đề tài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Số hóa hồ sơ sức khỏe sau COVID-19 • Thiếu kết nối dữ liệu y tế cơ sở • Phù hợp xu hướng chuyển đổi số ngành y tế.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416052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94183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Phương pháp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52728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OOP + UML: Use Case, Activity, Class, Sequence Diagram. Phân tích 5W1H. Thiết kế giao diện GUI.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416052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23591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quả đạt được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670048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Tài liệu yêu cầu • Bộ biểu đồ UML đầy đủ • Thiết kế giao diện 6 màn hình chính • Báo cáo tổng hợp.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594360"/>
          </a:xfrm>
          <a:prstGeom prst="rect">
            <a:avLst/>
          </a:prstGeom>
          <a:solidFill>
            <a:srgbClr val="0D3B61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13632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Cấu trúc: Chương 1 (Xác định YC)  →  Chương 2 (UML)  →  Chương 3 (Giao diện)  →  Chương 4 (Kết luận)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1: XÁC ĐỊNH YÊU CẦU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 Tổng quan hệ thống CHMS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60520" cy="12984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160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Mục tiêu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55064"/>
            <a:ext cx="39319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Số hóa toàn bộ quy trình quản lý sức khỏe cộng đồng: hồ sơ sức khỏe, khám chữa bệnh, tiêm chủng, giám sát dịch bệnh, báo cáo thống kê.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160520" cy="12984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160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Đối tượng sử dụng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55064"/>
            <a:ext cx="39319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Bác sĩ • Y tá/Điều dưỡng • Cán bộ y tế cộng đồng • Quản trị hệ thống • Lãnh đạo y tế • Người dân (bệnh nhân)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4160520" cy="12984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697480"/>
            <a:ext cx="4160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7432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Phạm vi triển khai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118104"/>
            <a:ext cx="39319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Trạm y tế phường/xã và Trung tâm y tế quận/huyện. Có khả năng kết nối &amp; chia sẻ dữ liệu giữa các đơn vị.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97480"/>
            <a:ext cx="4160520" cy="12984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4160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27432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Bối cảnh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18104"/>
            <a:ext cx="39319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Đề án 06 của Chính phủ về chuyển đổi số quốc gia. Nhu cầu nâng cao năng lực phòng chống dịch bệnh tại cơ sở.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1: XÁC ĐỊNH YÊU CẦU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 Hồ sơ nghiệp vụ &amp; Công việc chính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LOẠI HỒ SƠ NGHIỆP VỤ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4114800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3677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BM-01 Hồ sơ sức khỏe cá nhân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29384"/>
            <a:ext cx="4114800" cy="301752"/>
          </a:xfrm>
          <a:prstGeom prst="rect">
            <a:avLst/>
          </a:prstGeom>
          <a:solidFill>
            <a:srgbClr val="0F2D45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BM-02 Phiếu khám bệnh &amp; đơn thuốc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58568"/>
            <a:ext cx="4114800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29514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BM-03 Sổ tiêm chủng điện tử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587752"/>
            <a:ext cx="4114800" cy="301752"/>
          </a:xfrm>
          <a:prstGeom prst="rect">
            <a:avLst/>
          </a:prstGeom>
          <a:solidFill>
            <a:srgbClr val="0F2D45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2432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BM-04 Phiếu theo dõi bệnh mạn tính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16936"/>
            <a:ext cx="4114800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95351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BM-05 Báo cáo dịch tễ tuần/tháng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4114800" cy="301752"/>
          </a:xfrm>
          <a:prstGeom prst="rect">
            <a:avLst/>
          </a:prstGeom>
          <a:solidFill>
            <a:srgbClr val="0F2D45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28269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BM-06 Phiếu điều tra dịch tễ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575304"/>
            <a:ext cx="4114800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BM-07 Danh sách đối tượng ưu tiên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904488"/>
            <a:ext cx="4114800" cy="301752"/>
          </a:xfrm>
          <a:prstGeom prst="rect">
            <a:avLst/>
          </a:prstGeom>
          <a:solidFill>
            <a:srgbClr val="0F2D45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94106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BM-08 Báo cáo thống kê y tế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233672"/>
            <a:ext cx="4114800" cy="3017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27024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BM-09 Phiếu chuyển viện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562856"/>
            <a:ext cx="4114800" cy="301752"/>
          </a:xfrm>
          <a:prstGeom prst="rect">
            <a:avLst/>
          </a:prstGeom>
          <a:solidFill>
            <a:srgbClr val="0F2D45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59943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BM-10 Sổ đăng ký dân cư khu vực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1234440"/>
            <a:ext cx="4160520" cy="3200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126187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CÔNG VIỆC NGHIỆP VỤ CHÍNH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1600200"/>
            <a:ext cx="4160520" cy="429768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1600200"/>
            <a:ext cx="73152" cy="4297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28032" y="169164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CV-01 Quản lý hồ sơ sức khỏe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103120"/>
            <a:ext cx="4160520" cy="429768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2103120"/>
            <a:ext cx="73152" cy="4297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28032" y="219456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CV-02 Quản lý khám chữa bệnh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2606040"/>
            <a:ext cx="4160520" cy="429768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2606040"/>
            <a:ext cx="73152" cy="4297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269748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CV-03 Quản lý tiêm chủng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3108960"/>
            <a:ext cx="4160520" cy="429768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63440" y="3108960"/>
            <a:ext cx="73152" cy="4297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28032" y="320040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CV-04 Giám sát &amp; cảnh báo dịch bệnh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63440" y="3611880"/>
            <a:ext cx="4160520" cy="429768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663440" y="3611880"/>
            <a:ext cx="73152" cy="4297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28032" y="370332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CV-05 Theo dõi bệnh nhân mạn tính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663440" y="4114800"/>
            <a:ext cx="4160520" cy="429768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663440" y="4114800"/>
            <a:ext cx="73152" cy="42976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28032" y="420624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CV-06 Lập báo cáo thống kê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1: XÁC ĐỊNH YÊU CẦU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1.3 Tác nhân &amp; 7 Module chức năng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2004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TÁC NHÂN HỆ THỐNG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2004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Bác sĩ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48256"/>
            <a:ext cx="32004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3969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Y tá / Điều dưỡng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523744"/>
            <a:ext cx="32004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1518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Cán bộ y tế cộng đồng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32004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090672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Bệnh nhân / Người dân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474720"/>
            <a:ext cx="32004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Quản trị viên hệ thống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950208"/>
            <a:ext cx="32004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04164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Lãnh đạo y tế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03320" y="1234440"/>
            <a:ext cx="5120640" cy="2926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94760" y="1261872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MODULE CHỨC NĂNG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03320" y="1572768"/>
            <a:ext cx="25146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03320" y="1572768"/>
            <a:ext cx="411480" cy="40233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39896" y="1664208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1664208"/>
            <a:ext cx="19385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hồ sơ sức khỏe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03320" y="2048256"/>
            <a:ext cx="25146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03320" y="2048256"/>
            <a:ext cx="411480" cy="40233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39896" y="21396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2139696"/>
            <a:ext cx="19385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khám chữa bệnh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03320" y="2523744"/>
            <a:ext cx="25146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703320" y="2523744"/>
            <a:ext cx="411480" cy="40233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39896" y="2615184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0" y="2615184"/>
            <a:ext cx="19385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tiêm chủng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03320" y="2999232"/>
            <a:ext cx="25146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703320" y="2999232"/>
            <a:ext cx="411480" cy="40233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39896" y="3090672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06240" y="3090672"/>
            <a:ext cx="19385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Giám sát &amp; cảnh báo dịch bệnh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81928" y="1572768"/>
            <a:ext cx="25146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81928" y="1572768"/>
            <a:ext cx="411480" cy="40233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18504" y="1664208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84848" y="1664208"/>
            <a:ext cx="19385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 dõi bệnh mạn tính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81928" y="2048256"/>
            <a:ext cx="25146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81928" y="2048256"/>
            <a:ext cx="411480" cy="40233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18504" y="21396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84848" y="2139696"/>
            <a:ext cx="19385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Báo cáo và thống kê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81928" y="2523744"/>
            <a:ext cx="25146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81928" y="2523744"/>
            <a:ext cx="411480" cy="40233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18504" y="2615184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84848" y="2615184"/>
            <a:ext cx="19385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trị hệ thống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08483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CÁC YÊU CẦU VÀ PHÁT TRIỂN HỆ THỐNG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  •  Activity  •  Class  •  Sequence Diagram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2.1.1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Use Case — Lãnh đạo y tế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Lãnh đạo y tế (Trưởng trạm/Giám đốc) có quyền CHỈ ĐỌC toàn bộ hệ thống: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Xem báo cáo tổng hợp hoạt động (lượt khám, tiêm chủng)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Theo dõi dashboard dịch bệnh theo thời gian thực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Duyệt báo cáo định kỳ trước khi gửi Sở Y tế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Quan hệ &lt;&lt;include&gt;&gt; với Đăng nhập; &lt;&lt;extend&gt;&gt; với Xuất báo cáo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2.1.2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Use Case — Quản lý hồ sơ &amp; nghiệp vụ y tế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Bác sĩ: Quản lý hồ sơ • Khám bệnh &amp; chẩn đoán ICD-10 • Kê đơn thuốc • Theo dõi bệnh mạn tính • Lập phiếu chuyển viện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tá: Tiếp nhận bệnh nhân • Đo chỉ số sinh tồn • Quản lý tiêm chủng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 hệ &lt;&lt;extend&gt;&gt;: Cảnh báo dị ứng khi kê đơn; Tự động ghi nhận ca dịch tễ khi nhập ICD-10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2.1.3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Use Case — Quản lý dịch bệnh &amp; báo cáo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Cán bộ y tế cộng đồng: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Nhập số ca bệnh theo ICD-10 hàng ngày/tuần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Giám sát dashboard &amp; nhận cảnh báo tự động khi vượt ngưỡng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Lập phiếu điều tra dịch tễ khẩn cấp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Gửi báo cáo định kỳ qua email đến Trung tâm Y tế quận &amp; Sở Y tế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Use Case — Người dân xem thông tin cá nhân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Người dân (bệnh nhân) — CHỈ ĐỌC dữ liệu của bản thân: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Xem hồ sơ sức khỏe (nhóm máu, BMI, tiền sử bệnh, dị ứng)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Xem lịch sử khám bệnh &amp; đơn thuốc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Xem lịch sử và lịch tiêm chủng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Nhận thông báo nhắc lịch khám/tiêm tự động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Activity — Quản lý hồ sơ sức khỏe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Luồng xử lý: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Tìm kiếm hồ sơ theo CCCD/tên/mã BN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[Tìm thấy] → Xem/Cập nhật hồ sơ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[Không tìm thấy] → Tạo hồ sơ mới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Validation: kiểm tra CCCD trùng + trường bắt buộc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Mọi thao tác đều ghi audit log (thời gian + tài khoản)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Activity — Quản lý khám chữa bệnh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phân làn: Y tá – Bác sĩ – Hệ thống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Y tá: tiếp nhận, đo sinh tồn, quản lý hàng chờ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Bác sĩ: khám lâm sàng, lập chẩn đoán ICD-10, kê đơn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Hệ thống: kiểm tra dị ứng thuốc (cảnh báo đỏ nếu có), tự động ghi ca vào module dịch tễ khi ICD-10 thuộc nhóm giám sát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Activity — Quản lý tiêm chủng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Tra cứu lịch tiêm → hiển thị trạng thái badge màu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Kiểm tra chống chỉ định vaccine tự động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Ghi nhận: vaccine, số lô, vị trí tiêm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Theo dõi phản ứng 30 phút sau tiêm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Hệ thống tự tính &amp; cập nhật ngày tiêm mũi kế tiếp theo phác đồ chuẩn quốc gia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2.2.4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Activity — Giám sát &amp; cảnh báo dịch bệnh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Nhập ca bệnh theo ICD-10 → lưu CSDL dịch tễ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Hệ thống so sánh với ngưỡng cảnh báo Bộ Y tế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[Bình thường]: cập nhật biểu đồ xu hướng màu xanh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[Vượt ngưỡng]: kích hoạt cảnh báo vàng/đỏ, gửi email khẩn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Hỗ trợ lập phiếu điều tra dịch tễ tự điền dữ liệu ca bệnh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2.2.5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Activity — Theo dõi bệnh nhân mạn tính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Danh sách phân loại theo nhóm bệnh (THA, Tiểu đường, Lao)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[Đến hạn tái khám] → Hệ thống tự nhắc bệnh nhân qua SMS/email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Bác sĩ xem biểu đồ so sánh chỉ số qua các lần khám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[Ổn định] duy trì phác đồ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[Xấu hơn] điều chỉnh phác đồ hoặc lập phiếu chuyển viện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Biểu đồ Class — Tổng thể hệ thống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LỚP THỰC THỂ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NguoiDan — thông tin nhân khẩu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HoSoSucKhoe — thông tin sức khỏe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BacSi — đội ngũ bác sĩ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LichKham — lịch sử từng ca khám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DonThuoc — đơn thuốc kê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TiemChung — sổ tiêm chủng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DichBenh — số liệu dịch tễ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BaoCao — báo cáo thống kê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 hệ chính: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NguoiDan 1──1 HoSoSucKhoe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NguoiDan 1──* LichKham/TiemChung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LichKham 1──0..1 DonThuoc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Diagram — Đăng nhập hệ thống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Luồng: Người dùng → UI → AuthService → Database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Nhập email + mật khẩu (mã hóa HTTPS)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Truy vấn bảng NguoiDung, so sánh bcrypt hash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Kiểm tra TrangThai tài khoản &amp; xác định vai trò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Trả về JWT token + điều hướng theo vai trò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Khóa tài khoản 15 phút nếu sai 3 lần liên tiếp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2.4.2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Diagram — Tạo/Cập nhật hồ sơ sức khỏe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Tìm kiếm CCCD → Database trả null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Hệ thống đề xuất tạo hồ sơ mới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Cán bộ điền form đầy đủ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Validation: CCCD chưa tồn tại + trường bắt buộc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Tạo MaBenhNhan mới → INSERT vào CSDL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⑥ Thông báo thành công + hiển thị mã BN mới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2.4.3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Diagram — Khám bệnh &amp; kê đơn thuốc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Tải hồ sơ + cảnh báo dị ứng (banner đỏ)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Bác sĩ nhập ICD-10 → hệ thống tự ghi ca vào module dịch tễ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Kiểm tra thuốc với danh sách dị ứng: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[Dị ứng]: cảnh báo đỏ, bắt buộc xác nhận/đổi thuốc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[An toàn]: lưu đơn và cho phép in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2.4.4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Diagram — Ghi nhận tiêm chủng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Y tá tra cứu hồ sơ tiêm chủng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Kiểm tra chống chỉ định vaccine vs dị ứng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Nhập: vaccine, số lô, hạn sử dụng, vị trí tiêm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Tính NgayTiemKeTiep theo phác đồ quốc gia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INSERT bản ghi mũi tiêm mới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⑥ Ghi nhận phản ứng sau 30 phút → UPDATE CSDL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2 — 2.4.5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Diagram — Xuất báo cáo dịch bệnh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TÓM TẮT Ý CHÍNH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Chọn loại báo cáo &amp; kỳ (tuần/tháng)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Tổng hợp từ GiamSatDichBenh + LichSuKhamBenh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Tính chỉ số theo mẫu chuẩn Bộ Y tế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Tạo file Excel/PDF → lưu URL vào CSDL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⑤ Preview báo cáo để xem xét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⑥ Gửi email tự động đến TT Y tế quận &amp; Sở Y tế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084832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THIẾT KẾ GIAO DIỆN NGƯỜI DÙNG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màn hình chính của hệ thống CHMS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3 — 3.1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Giao diện Đăng nhập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 TẢ GIAO DIỆN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Logo + tên hệ thống CHMS ở đầu trang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Dropdown chọn vai trò trước khi đăng nhập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Ô nhập tên đăng nhập &amp; mật khẩu (ẩn ký tự)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Liên kết 'Quên mật khẩu?' qua email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Bảo mật: khóa 15 phút nếu sai từ 3 lần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Mọi phiên làm việc được ghi audit log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3 — 3.2.1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hồ sơ — Danh sách hồ sơ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 TẢ GIAO DIỆN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Bố cục 2 vùng: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Sidebar trái: điều hướng nhanh đến các chức năng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Vùng phải: tìm kiếm đa tiêu chí (tên/CCCD/mã BN)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Bảng 7 cột: Mã BN • Họ tên • Ngày sinh • Địa chỉ • Nhóm máu • Trạng thái • Thao tác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Badge màu: Xanh (bình thường) | Vàng cam (mạn tính)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3 — 3.2.2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Quản lý hồ sơ — Chi tiết hồ sơ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 TẢ GIAO DIỆN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 layout theo dạng thẻ thông tin: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Header: avatar, họ tên, mã BN, CCCD, badge trạng thái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Thẻ trái: thông tin cá nhân (ngày sinh, địa chỉ)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Thẻ phải: sức khỏe — nhóm máu, BMI, tiền sử bệnh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DỊ ỨNG THUỐC: hiển thị badge đỏ cảnh báo bác sĩ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Bảng lịch sử khám bệnh gần đây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3 — 3.3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Giao diện Quản lý khám chữa bệnh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 TẢ GIAO DIỆN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Bố cục 2 panel: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Panel trái: hàng chờ khám (4-5 bệnh nhân)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Panel phải: form khám gồm 4 nhóm: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① Chỉ số sinh tồn (Y tá đã đo trước)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② Cảnh báo dị ứng (nền đỏ nếu có)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③ Kết quả khám: triệu chứng, ICD-10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④ Đơn thuốc: bảng kê + kiểm tra tự động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3 — 3.4.1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Giao diện Quản lý tiêm chủng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 TẢ GIAO DIỆN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cột song song: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Cột trái — Sổ tiêm chủng điện tử: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Badge màu: Đã tiêm (xanh) | Đến hạn (vàng) | Quá hạn (đỏ)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Cột phải — Form ghi nhận mũi tiêm mới: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Kiểm tra chống chỉ định → Nhập vaccine, số lô, vị trí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Ghi phản ứng sau 30 phút → Tự cập nhật lịch tiêm tiếp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3 — 3.4.2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Báo cáo dịch bệnh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4572000" cy="36576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" y="896112"/>
            <a:ext cx="530352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896112"/>
            <a:ext cx="30175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896112"/>
            <a:ext cx="3017520" cy="329184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97880" y="9144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MÔ TẢ GIAO DIỆN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280160"/>
            <a:ext cx="2834640" cy="2907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tầng dashboard: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4 ô thống kê nhanh: tình trạng, ca mới hôm nay, tổng tuần, bệnh đang cảnh báo — màu thay đổi theo mức độ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Form nhập ca bệnh mới (ICD-10, số ca, địa bàn)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Bảng tình hình dịch theo từng loại bệnh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Nút xuất Excel/PDF &amp; gửi email Sở Y tế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CHƯƠNG 4: KẾT LUẬN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quả đạt được &amp; Đánh giá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292608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ĐÃ THỰC HIỆN ĐƯỢC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11480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64008" cy="329184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Tài liệu yêu cầu: 10 hồ sơ, 5W1H, 6 tác nhân, 7 module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947672"/>
            <a:ext cx="4114800" cy="329184"/>
          </a:xfrm>
          <a:prstGeom prst="rect">
            <a:avLst/>
          </a:prstGeom>
          <a:solidFill>
            <a:srgbClr val="0F2D45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947672"/>
            <a:ext cx="64008" cy="329184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00253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biểu đồ Use Case theo từng nhóm tác nhân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322576"/>
            <a:ext cx="411480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322576"/>
            <a:ext cx="64008" cy="329184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biểu đồ Activity chi tiết quy trình nghiệp vụ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4114800" cy="329184"/>
          </a:xfrm>
          <a:prstGeom prst="rect">
            <a:avLst/>
          </a:prstGeom>
          <a:solidFill>
            <a:srgbClr val="0F2D45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697480"/>
            <a:ext cx="64008" cy="329184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75234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biểu đồ Class với 8 lớp thực thể &amp; quan hệ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72384"/>
            <a:ext cx="411480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072384"/>
            <a:ext cx="64008" cy="329184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12724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biểu đồ Sequence tương tác đối tượng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447288"/>
            <a:ext cx="4114800" cy="329184"/>
          </a:xfrm>
          <a:prstGeom prst="rect">
            <a:avLst/>
          </a:prstGeom>
          <a:solidFill>
            <a:srgbClr val="0F2D45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447288"/>
            <a:ext cx="64008" cy="329184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50215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màn hình giao diện người dùng chính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160520" cy="292608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261872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HẠN CHẾ &amp; HƯỚNG PHÁT TRIỂN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572768"/>
            <a:ext cx="416052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C07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162763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Chưa triển khai lập trình thực tế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947672"/>
            <a:ext cx="416052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C07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200253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Chưa bao phủ đủ màn hình (quản trị, cấu hình)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322576"/>
            <a:ext cx="416052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C07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237744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Chưa phân tích yêu cầu phi chức năng (bảo mật, hiệu năng)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761488"/>
            <a:ext cx="416052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2761488"/>
            <a:ext cx="64008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281635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Lập trình thực tế: React.js + NestJS + PostgreSQL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3136392"/>
            <a:ext cx="4160520" cy="329184"/>
          </a:xfrm>
          <a:prstGeom prst="rect">
            <a:avLst/>
          </a:prstGeom>
          <a:solidFill>
            <a:srgbClr val="0F2D45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3136392"/>
            <a:ext cx="64008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319125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Tích hợp CCCD quốc gia &amp; API BHYT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3511296"/>
            <a:ext cx="416052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3511296"/>
            <a:ext cx="64008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356616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Ứng dụng mobile (iOS/Android) cho người dân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3886200"/>
            <a:ext cx="4160520" cy="329184"/>
          </a:xfrm>
          <a:prstGeom prst="rect">
            <a:avLst/>
          </a:prstGeom>
          <a:solidFill>
            <a:srgbClr val="0F2D45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63440" y="3886200"/>
            <a:ext cx="64008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00600" y="394106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AI/ML: dự báo dịch bệnh SIR/SEIR, hỗ trợ chẩn đoán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4261104"/>
            <a:ext cx="416052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63440" y="4261104"/>
            <a:ext cx="64008" cy="32918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0600" y="431596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Telemedicine: khám từ xa qua WebRTC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10292</Words>
  <Application>WPS Presentation</Application>
  <PresentationFormat>On-screen Show (16:9)</PresentationFormat>
  <Paragraphs>492</Paragraphs>
  <Slides>31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Sức khỏe Cộng đồng - CHMS</dc:title>
  <dc:creator>PptxGenJS</dc:creator>
  <dc:subject>PptxGenJS Presentation</dc:subject>
  <cp:lastModifiedBy>LUONG NGOC LINH</cp:lastModifiedBy>
  <cp:revision>3</cp:revision>
  <dcterms:created xsi:type="dcterms:W3CDTF">2026-04-10T08:26:00Z</dcterms:created>
  <dcterms:modified xsi:type="dcterms:W3CDTF">2026-10-20T14:24:05Z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C8E1B2C3CA754ED9A54A270FF0E31C9E_12</vt:lpwstr>
  </property>
  <property fmtid="{D5CDD505-2E9C-101B-9397-08002B2CF9AE}" pid="3" name="KSOProductBuildVer">
    <vt:lpwstr>1033-12.1.0.29162</vt:lpwstr>
  </property>
</Properties>
</file>